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5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707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124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67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238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2444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158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770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8223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766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279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3944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3798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4304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3811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33142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3531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5933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EA173C4-FDFE-4CC9-A892-42A8535F64AC}" type="datetimeFigureOut">
              <a:rPr lang="es-AR" smtClean="0"/>
              <a:t>24/5/2026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558580B-3E51-4415-BA5D-7347DEE0FF6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57580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D9211-6A9B-B001-6A3C-CC5C74A366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err="1"/>
              <a:t>QoS</a:t>
            </a:r>
            <a:r>
              <a:rPr lang="es-AR" dirty="0"/>
              <a:t> en servidores de empresa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4A0497-261E-D8A7-F65E-B02C6073E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Trabajo práctico N°5 – Simulación</a:t>
            </a:r>
          </a:p>
          <a:p>
            <a:r>
              <a:rPr lang="es-AR" dirty="0"/>
              <a:t>Curso: K4152 - Grupo 4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1468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D14DB-7460-EA12-4BCC-740C9EB7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516FDB-E87E-1DC5-C370-648441D1B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4100" indent="-457200">
              <a:buAutoNum type="arabicPeriod"/>
            </a:pPr>
            <a:r>
              <a:rPr lang="es-AR" sz="3200" dirty="0"/>
              <a:t>Problema</a:t>
            </a:r>
          </a:p>
          <a:p>
            <a:pPr marL="494100" indent="-457200">
              <a:buAutoNum type="arabicPeriod"/>
            </a:pPr>
            <a:r>
              <a:rPr lang="es-AR" sz="3200" dirty="0"/>
              <a:t>Simulación</a:t>
            </a:r>
          </a:p>
          <a:p>
            <a:pPr marL="494100" indent="-457200">
              <a:buAutoNum type="arabicPeriod"/>
            </a:pPr>
            <a:r>
              <a:rPr lang="es-AR" sz="3200" dirty="0"/>
              <a:t>Resultados</a:t>
            </a:r>
          </a:p>
          <a:p>
            <a:pPr marL="494100" indent="-457200">
              <a:buAutoNum type="arabicPeriod"/>
            </a:pPr>
            <a:r>
              <a:rPr lang="es-AR" sz="3200" dirty="0"/>
              <a:t>Conclusión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D56E17A-26B1-2C05-2709-A9E094283657}"/>
              </a:ext>
            </a:extLst>
          </p:cNvPr>
          <p:cNvCxnSpPr>
            <a:cxnSpLocks/>
          </p:cNvCxnSpPr>
          <p:nvPr/>
        </p:nvCxnSpPr>
        <p:spPr>
          <a:xfrm>
            <a:off x="1051560" y="2377440"/>
            <a:ext cx="9235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45B4D8D-7776-187C-DAA5-29553627D00F}"/>
              </a:ext>
            </a:extLst>
          </p:cNvPr>
          <p:cNvCxnSpPr>
            <a:cxnSpLocks/>
          </p:cNvCxnSpPr>
          <p:nvPr/>
        </p:nvCxnSpPr>
        <p:spPr>
          <a:xfrm>
            <a:off x="1051560" y="3005328"/>
            <a:ext cx="9235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48023F8-1260-E0E1-52A9-5C44C739E81C}"/>
              </a:ext>
            </a:extLst>
          </p:cNvPr>
          <p:cNvCxnSpPr>
            <a:cxnSpLocks/>
          </p:cNvCxnSpPr>
          <p:nvPr/>
        </p:nvCxnSpPr>
        <p:spPr>
          <a:xfrm>
            <a:off x="1051560" y="3706368"/>
            <a:ext cx="9235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5077667-2DAA-6584-32DD-53664557756B}"/>
              </a:ext>
            </a:extLst>
          </p:cNvPr>
          <p:cNvCxnSpPr>
            <a:cxnSpLocks/>
          </p:cNvCxnSpPr>
          <p:nvPr/>
        </p:nvCxnSpPr>
        <p:spPr>
          <a:xfrm>
            <a:off x="1051560" y="4392168"/>
            <a:ext cx="9235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42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088FB-5FAA-CD81-95B6-4124ECA7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Problema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F9A206-FD74-0C6F-0364-31EEFB607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7716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F739CA1D-8955-AA66-5116-9CB079ACBFC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7195" b="17195"/>
          <a:stretch/>
        </p:blipFill>
        <p:spPr>
          <a:prstGeom prst="rect">
            <a:avLst/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CC15CC-8E79-3687-73EA-67FC6AFB1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4398264"/>
            <a:ext cx="10353762" cy="1392936"/>
          </a:xfrm>
        </p:spPr>
        <p:txBody>
          <a:bodyPr>
            <a:normAutofit/>
          </a:bodyPr>
          <a:lstStyle/>
          <a:p>
            <a:r>
              <a:rPr lang="es-ES" sz="2000" dirty="0">
                <a:effectLst/>
              </a:rPr>
              <a:t>Ante el crecimiento de la demanda, una empresa enfrenta la necesidad de validar su capacidad de respuesta y determinar si se requiere inversión en hardware adicional o una reconfiguración de la lógica de despacho. El desafío principal es garantizar la Calidad de Servicio (</a:t>
            </a:r>
            <a:r>
              <a:rPr lang="es-ES" sz="2000" dirty="0" err="1">
                <a:effectLst/>
              </a:rPr>
              <a:t>QoS</a:t>
            </a:r>
            <a:r>
              <a:rPr lang="es-ES" sz="2000" dirty="0">
                <a:effectLst/>
              </a:rPr>
              <a:t>), evitando la saturación de los servidores y minimizando los tiempos de espera.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106519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7BAD9-37EC-6382-C7FF-52EEA6FD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Respuesta al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239A51-4926-4F2D-9FA0-52B6CBF48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s-ES" sz="3200" dirty="0">
                <a:effectLst/>
              </a:rPr>
              <a:t>Para Evaluar el caso de inversión, analizaremos el comportamiento del sistema mediante una simulación de eventos para determinar la configuración óptima de servidores. </a:t>
            </a:r>
          </a:p>
          <a:p>
            <a:pPr marL="36900" indent="0">
              <a:buNone/>
            </a:pPr>
            <a:r>
              <a:rPr lang="es-ES" sz="3200" dirty="0">
                <a:effectLst/>
              </a:rPr>
              <a:t>Se busca maximizar el </a:t>
            </a:r>
            <a:r>
              <a:rPr lang="es-ES" sz="3200" dirty="0" err="1">
                <a:effectLst/>
              </a:rPr>
              <a:t>throughput</a:t>
            </a:r>
            <a:r>
              <a:rPr lang="es-ES" sz="3200" dirty="0">
                <a:effectLst/>
              </a:rPr>
              <a:t> y minimizar el tiempo de permanencia en el sistema, analizando tres escenarios: actual, mejor y peor caso.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150897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89050-6233-046A-6564-DEBDC9B4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CBDC7-17B8-77AE-31E7-47F6AE50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Simulación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61F80A-8DC4-E8A2-8EC7-C1E55BF86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37589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79A06-B304-1126-F76E-A41C08EA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E422E-7D76-966C-1BBA-0BC4C8A4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Contexto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C2E766-80E1-B7D6-7EE4-B3C1AE63A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2000" dirty="0">
                <a:effectLst/>
              </a:rPr>
              <a:t>El sistema bajo estudio consiste en la infraestructura de servidores </a:t>
            </a:r>
            <a:r>
              <a:rPr lang="es-ES" sz="2000" dirty="0" err="1">
                <a:effectLst/>
              </a:rPr>
              <a:t>on</a:t>
            </a:r>
            <a:r>
              <a:rPr lang="es-ES" sz="2000" dirty="0">
                <a:effectLst/>
              </a:rPr>
              <a:t>-premise. </a:t>
            </a:r>
          </a:p>
          <a:p>
            <a:r>
              <a:rPr lang="es-ES" sz="2000" dirty="0">
                <a:effectLst/>
              </a:rPr>
              <a:t>El puerto crítico de acceso es el puerto 51413, el cual centraliza el tráfico de servicios y aplicaciones críticas.</a:t>
            </a:r>
            <a:r>
              <a:rPr lang="es-AR" sz="2000" dirty="0">
                <a:effectLst/>
              </a:rPr>
              <a:t> Las conexiones son clasificadas en colas de espera según su protocolo.</a:t>
            </a:r>
          </a:p>
          <a:p>
            <a:r>
              <a:rPr lang="es-AR" sz="2000" dirty="0">
                <a:effectLst/>
              </a:rPr>
              <a:t>El sistema siempre priorizará las conexiones UDP sobre las TCP al momento de recibir un flujo.</a:t>
            </a:r>
            <a:endParaRPr lang="es-AR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13AE32FD-2A36-08EA-D35B-425E8EA7B1A5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1F8BA43-33E5-1F8D-0903-09922DB0A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550" y="763702"/>
            <a:ext cx="3275751" cy="491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20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04B63-62C3-F7B6-52C1-F91B7666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Contexto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61B406-B2EB-13F0-D5AB-D56B05DEE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AR" sz="2000" dirty="0">
                <a:effectLst/>
              </a:rPr>
              <a:t>Luego, los servidores pueden ser de dos clases:</a:t>
            </a:r>
          </a:p>
          <a:p>
            <a:endParaRPr lang="es-AR" sz="2000" dirty="0">
              <a:effectLst/>
            </a:endParaRPr>
          </a:p>
          <a:p>
            <a:pPr algn="l"/>
            <a:r>
              <a:rPr lang="es-AR" sz="2000" b="1" u="sng" dirty="0">
                <a:effectLst/>
              </a:rPr>
              <a:t>Clase A:</a:t>
            </a:r>
            <a:r>
              <a:rPr lang="es-AR" sz="2000" b="1" dirty="0">
                <a:effectLst/>
              </a:rPr>
              <a:t> </a:t>
            </a:r>
            <a:r>
              <a:rPr lang="es-AR" sz="2000" dirty="0">
                <a:effectLst/>
              </a:rPr>
              <a:t>Acepta solamente conexiones UDP</a:t>
            </a:r>
          </a:p>
          <a:p>
            <a:pPr algn="l"/>
            <a:endParaRPr lang="es-AR" sz="2000" dirty="0">
              <a:effectLst/>
            </a:endParaRPr>
          </a:p>
          <a:p>
            <a:pPr algn="l"/>
            <a:r>
              <a:rPr lang="es-AR" sz="2000" b="1" u="sng" dirty="0">
                <a:effectLst/>
              </a:rPr>
              <a:t>Clase B:</a:t>
            </a:r>
            <a:r>
              <a:rPr lang="es-AR" sz="2000" b="1" dirty="0">
                <a:effectLst/>
              </a:rPr>
              <a:t> </a:t>
            </a:r>
            <a:r>
              <a:rPr lang="es-AR" sz="2000" dirty="0">
                <a:effectLst/>
              </a:rPr>
              <a:t>Acepta tanto conexiones UDP como TCP</a:t>
            </a:r>
            <a:endParaRPr lang="es-AR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74F92C1-D4BB-EC0D-A902-D9BA19EF4F0F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C1969FE-D776-DE11-C136-607B39729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550" y="763702"/>
            <a:ext cx="3275751" cy="491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3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FFC96-A577-A783-D6BD-71A26EFA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8898A-875F-7027-8617-CA067C04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Escenarios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E71F27-AD0E-6750-2B46-556F6E373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sz="2000" dirty="0">
                <a:effectLst/>
              </a:rPr>
              <a:t>Para evaluar los diferentes escenarios que están dentro del margen de discusión de la empresa sobre si invertir o no, contamos con los siguientes parámetros con los que analizaremos los escenarios posibles:</a:t>
            </a:r>
          </a:p>
          <a:p>
            <a:endParaRPr lang="es-AR" dirty="0"/>
          </a:p>
          <a:p>
            <a:r>
              <a:rPr lang="es-AR" dirty="0">
                <a:effectLst/>
              </a:rPr>
              <a:t>Escenario A  (Actualidad):</a:t>
            </a:r>
          </a:p>
          <a:p>
            <a:pPr lvl="1"/>
            <a:r>
              <a:rPr lang="es-AR" dirty="0">
                <a:effectLst/>
              </a:rPr>
              <a:t>(N) Cant. Servidores clase A: 1</a:t>
            </a:r>
          </a:p>
          <a:p>
            <a:pPr lvl="1"/>
            <a:r>
              <a:rPr lang="es-AR" dirty="0">
                <a:effectLst/>
              </a:rPr>
              <a:t>(M) Cant. Servidores clase B: 1</a:t>
            </a:r>
          </a:p>
          <a:p>
            <a:pPr lvl="1"/>
            <a:r>
              <a:rPr lang="es-AR" dirty="0">
                <a:effectLst/>
              </a:rPr>
              <a:t> (TO) </a:t>
            </a:r>
            <a:r>
              <a:rPr lang="es-AR" dirty="0" err="1">
                <a:effectLst/>
              </a:rPr>
              <a:t>Timeout</a:t>
            </a:r>
            <a:r>
              <a:rPr lang="es-AR" dirty="0">
                <a:effectLst/>
              </a:rPr>
              <a:t> de conexión: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59406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75C22-562E-84BC-6E2C-274C7A01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44D82-29B5-AFE9-31D2-4298F44E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Escenarios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EBEAA1-092F-76E7-DC0D-8BD9FA4A9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>
                <a:effectLst/>
              </a:rPr>
              <a:t>Escenario B  (Opción de inversión I):</a:t>
            </a:r>
          </a:p>
          <a:p>
            <a:pPr lvl="1"/>
            <a:r>
              <a:rPr lang="es-AR" dirty="0">
                <a:effectLst/>
              </a:rPr>
              <a:t>(N) Cant. Servidores clase A: 2</a:t>
            </a:r>
          </a:p>
          <a:p>
            <a:pPr lvl="1"/>
            <a:r>
              <a:rPr lang="es-AR" dirty="0">
                <a:effectLst/>
              </a:rPr>
              <a:t>(M) Cant. Servidores clase B: 4</a:t>
            </a:r>
          </a:p>
          <a:p>
            <a:pPr lvl="1"/>
            <a:r>
              <a:rPr lang="es-AR" dirty="0">
                <a:effectLst/>
              </a:rPr>
              <a:t> (TO) </a:t>
            </a:r>
            <a:r>
              <a:rPr lang="es-AR" dirty="0" err="1">
                <a:effectLst/>
              </a:rPr>
              <a:t>Timeout</a:t>
            </a:r>
            <a:r>
              <a:rPr lang="es-AR" dirty="0">
                <a:effectLst/>
              </a:rPr>
              <a:t> de conexión: </a:t>
            </a:r>
          </a:p>
          <a:p>
            <a:endParaRPr lang="es-AR" dirty="0"/>
          </a:p>
          <a:p>
            <a:r>
              <a:rPr lang="es-AR" dirty="0">
                <a:effectLst/>
              </a:rPr>
              <a:t>Escenario C  (Opción de inversión II):</a:t>
            </a:r>
          </a:p>
          <a:p>
            <a:pPr lvl="1"/>
            <a:r>
              <a:rPr lang="es-AR" dirty="0">
                <a:effectLst/>
              </a:rPr>
              <a:t>(N) Cant. Servidores clase A: 3</a:t>
            </a:r>
          </a:p>
          <a:p>
            <a:pPr lvl="1"/>
            <a:r>
              <a:rPr lang="es-AR" dirty="0">
                <a:effectLst/>
              </a:rPr>
              <a:t>(M) Cant. Servidores clase B: 3</a:t>
            </a:r>
          </a:p>
          <a:p>
            <a:pPr lvl="1"/>
            <a:r>
              <a:rPr lang="es-AR" dirty="0">
                <a:effectLst/>
              </a:rPr>
              <a:t> (TO) </a:t>
            </a:r>
            <a:r>
              <a:rPr lang="es-AR" dirty="0" err="1">
                <a:effectLst/>
              </a:rPr>
              <a:t>Timeout</a:t>
            </a:r>
            <a:r>
              <a:rPr lang="es-AR" dirty="0">
                <a:effectLst/>
              </a:rPr>
              <a:t> de conexión: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41849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88C65-7168-7BA4-829E-6ED29E68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9794F-25E9-6320-47C6-1F02D370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Resultados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45EC68-D49F-2699-ACFA-AF7B35A79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872429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78</TotalTime>
  <Words>372</Words>
  <Application>Microsoft Office PowerPoint</Application>
  <PresentationFormat>Panorámica</PresentationFormat>
  <Paragraphs>42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Calisto MT</vt:lpstr>
      <vt:lpstr>Wingdings 2</vt:lpstr>
      <vt:lpstr>Pizarra</vt:lpstr>
      <vt:lpstr>QoS en servidores de empresa</vt:lpstr>
      <vt:lpstr>Agenda</vt:lpstr>
      <vt:lpstr>Problema</vt:lpstr>
      <vt:lpstr>Presentación de PowerPoint</vt:lpstr>
      <vt:lpstr>Respuesta al problema</vt:lpstr>
      <vt:lpstr>Simulación</vt:lpstr>
      <vt:lpstr>Contexto</vt:lpstr>
      <vt:lpstr>Contexto</vt:lpstr>
      <vt:lpstr>Escenarios</vt:lpstr>
      <vt:lpstr>Escenarios</vt:lpstr>
      <vt:lpstr>Resultados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Federico CACACE</dc:creator>
  <cp:lastModifiedBy>Guillermo Federico CACACE</cp:lastModifiedBy>
  <cp:revision>1</cp:revision>
  <dcterms:created xsi:type="dcterms:W3CDTF">2026-05-24T21:57:36Z</dcterms:created>
  <dcterms:modified xsi:type="dcterms:W3CDTF">2026-05-24T23:16:01Z</dcterms:modified>
</cp:coreProperties>
</file>