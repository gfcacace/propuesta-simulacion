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  <p:sldId id="257" r:id="rId3"/>
    <p:sldId id="258" r:id="rId4"/>
    <p:sldId id="260" r:id="rId5"/>
    <p:sldId id="262" r:id="rId6"/>
    <p:sldId id="261" r:id="rId7"/>
    <p:sldId id="265" r:id="rId8"/>
    <p:sldId id="264" r:id="rId9"/>
    <p:sldId id="266" r:id="rId10"/>
    <p:sldId id="268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59833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A173C4-FDFE-4CC9-A892-42A8535F64AC}" type="datetimeFigureOut">
              <a:rPr lang="es-AR" smtClean="0"/>
              <a:t>24/5/2026</a:t>
            </a:fld>
            <a:endParaRPr lang="es-A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8580B-3E51-4415-BA5D-7347DEE0FF6B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7070756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A173C4-FDFE-4CC9-A892-42A8535F64AC}" type="datetimeFigureOut">
              <a:rPr lang="es-AR" smtClean="0"/>
              <a:t>24/5/2026</a:t>
            </a:fld>
            <a:endParaRPr lang="es-A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8580B-3E51-4415-BA5D-7347DEE0FF6B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9012401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589879"/>
            <a:ext cx="9590550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A173C4-FDFE-4CC9-A892-42A8535F64AC}" type="datetimeFigureOut">
              <a:rPr lang="es-AR" smtClean="0"/>
              <a:t>24/5/2026</a:t>
            </a:fld>
            <a:endParaRPr lang="es-A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8580B-3E51-4415-BA5D-7347DEE0FF6B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0167229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1732449"/>
            <a:ext cx="5060497" cy="4058750"/>
          </a:xfrm>
        </p:spPr>
        <p:txBody>
          <a:bodyPr anchor="t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2892" y="1732449"/>
            <a:ext cx="5064665" cy="4058751"/>
          </a:xfrm>
        </p:spPr>
        <p:txBody>
          <a:bodyPr anchor="t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A173C4-FDFE-4CC9-A892-42A8535F64AC}" type="datetimeFigureOut">
              <a:rPr lang="es-AR" smtClean="0"/>
              <a:t>24/5/2026</a:t>
            </a:fld>
            <a:endParaRPr lang="es-A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8580B-3E51-4415-BA5D-7347DEE0FF6B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0823866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89072" cy="4148769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485" y="1734506"/>
            <a:ext cx="5089072" cy="4148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72" y="1835254"/>
            <a:ext cx="4876344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872" y="2380137"/>
            <a:ext cx="4876344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4967" y="1835254"/>
            <a:ext cx="4895330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4967" y="2380137"/>
            <a:ext cx="4895330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A173C4-FDFE-4CC9-A892-42A8535F64AC}" type="datetimeFigureOut">
              <a:rPr lang="es-AR" smtClean="0"/>
              <a:t>24/5/2026</a:t>
            </a:fld>
            <a:endParaRPr lang="es-A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8580B-3E51-4415-BA5D-7347DEE0FF6B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8524440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A173C4-FDFE-4CC9-A892-42A8535F64AC}" type="datetimeFigureOut">
              <a:rPr lang="es-AR" smtClean="0"/>
              <a:t>24/5/2026</a:t>
            </a:fld>
            <a:endParaRPr lang="es-A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8580B-3E51-4415-BA5D-7347DEE0FF6B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2715849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A173C4-FDFE-4CC9-A892-42A8535F64AC}" type="datetimeFigureOut">
              <a:rPr lang="es-AR" smtClean="0"/>
              <a:t>24/5/2026</a:t>
            </a:fld>
            <a:endParaRPr lang="es-A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8580B-3E51-4415-BA5D-7347DEE0FF6B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2977093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181600"/>
          </a:xfrm>
        </p:spPr>
        <p:txBody>
          <a:bodyPr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1518"/>
            <a:ext cx="3706889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A173C4-FDFE-4CC9-A892-42A8535F64AC}" type="datetimeFigureOut">
              <a:rPr lang="es-AR" smtClean="0"/>
              <a:t>24/5/2026</a:t>
            </a:fld>
            <a:endParaRPr lang="es-A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8580B-3E51-4415-BA5D-7347DEE0FF6B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0822362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923"/>
            <a:ext cx="5934949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9261"/>
            <a:ext cx="5934949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A173C4-FDFE-4CC9-A892-42A8535F64AC}" type="datetimeFigureOut">
              <a:rPr lang="es-AR" smtClean="0"/>
              <a:t>24/5/2026</a:t>
            </a:fld>
            <a:endParaRPr lang="es-A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8580B-3E51-4415-BA5D-7347DEE0FF6B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7976602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 panorámic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5376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A173C4-FDFE-4CC9-A892-42A8535F64AC}" type="datetimeFigureOut">
              <a:rPr lang="es-AR" smtClean="0"/>
              <a:t>24/5/2026</a:t>
            </a:fld>
            <a:endParaRPr lang="es-A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8580B-3E51-4415-BA5D-7347DEE0FF6B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9727909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A173C4-FDFE-4CC9-A892-42A8535F64AC}" type="datetimeFigureOut">
              <a:rPr lang="es-AR" smtClean="0"/>
              <a:t>24/5/2026</a:t>
            </a:fld>
            <a:endParaRPr lang="es-A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8580B-3E51-4415-BA5D-7347DEE0FF6B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418394460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A173C4-FDFE-4CC9-A892-42A8535F64AC}" type="datetimeFigureOut">
              <a:rPr lang="es-AR" smtClean="0"/>
              <a:t>24/5/2026</a:t>
            </a:fld>
            <a:endParaRPr lang="es-A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8580B-3E51-4415-BA5D-7347DEE0FF6B}" type="slidenum">
              <a:rPr lang="es-AR" smtClean="0"/>
              <a:t>‹Nº›</a:t>
            </a:fld>
            <a:endParaRPr lang="es-AR"/>
          </a:p>
        </p:txBody>
      </p:sp>
      <p:sp>
        <p:nvSpPr>
          <p:cNvPr id="11" name="TextBox 10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37379808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A173C4-FDFE-4CC9-A892-42A8535F64AC}" type="datetimeFigureOut">
              <a:rPr lang="es-AR" smtClean="0"/>
              <a:t>24/5/2026</a:t>
            </a:fld>
            <a:endParaRPr lang="es-A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8580B-3E51-4415-BA5D-7347DEE0FF6B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89430435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A173C4-FDFE-4CC9-A892-42A8535F64AC}" type="datetimeFigureOut">
              <a:rPr lang="es-AR" smtClean="0"/>
              <a:t>24/5/2026</a:t>
            </a:fld>
            <a:endParaRPr lang="es-A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8580B-3E51-4415-BA5D-7347DEE0FF6B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42338110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de image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480368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480367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480365"/>
            <a:ext cx="3300984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A173C4-FDFE-4CC9-A892-42A8535F64AC}" type="datetimeFigureOut">
              <a:rPr lang="es-AR" smtClean="0"/>
              <a:t>24/5/2026</a:t>
            </a:fld>
            <a:endParaRPr lang="es-A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8580B-3E51-4415-BA5D-7347DEE0FF6B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93314236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A173C4-FDFE-4CC9-A892-42A8535F64AC}" type="datetimeFigureOut">
              <a:rPr lang="es-AR" smtClean="0"/>
              <a:t>24/5/2026</a:t>
            </a:fld>
            <a:endParaRPr lang="es-A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8580B-3E51-4415-BA5D-7347DEE0FF6B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06353133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A173C4-FDFE-4CC9-A892-42A8535F64AC}" type="datetimeFigureOut">
              <a:rPr lang="es-AR" smtClean="0"/>
              <a:t>24/5/2026</a:t>
            </a:fld>
            <a:endParaRPr lang="es-A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8580B-3E51-4415-BA5D-7347DEE0FF6B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7593345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17324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7EA173C4-FDFE-4CC9-A892-42A8535F64AC}" type="datetimeFigureOut">
              <a:rPr lang="es-AR" smtClean="0"/>
              <a:t>24/5/2026</a:t>
            </a:fld>
            <a:endParaRPr lang="es-A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s-A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3558580B-3E51-4415-BA5D-7347DEE0FF6B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93575808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6DD9211-6A9B-B001-6A3C-CC5C74A366E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AR" dirty="0" err="1"/>
              <a:t>QoS</a:t>
            </a:r>
            <a:r>
              <a:rPr lang="es-AR" dirty="0"/>
              <a:t> en servidores de empresa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94A0497-261E-D8A7-F65E-B02C6073EC9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s-AR" dirty="0"/>
              <a:t>Trabajo práctico N°5 – Simulación</a:t>
            </a:r>
          </a:p>
          <a:p>
            <a:r>
              <a:rPr lang="es-AR" dirty="0"/>
              <a:t>Curso: K4152 - Grupo 4</a:t>
            </a:r>
          </a:p>
          <a:p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9146825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EBD14DB-7460-EA12-4BCC-740C9EB73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AR" dirty="0"/>
              <a:t>Agenda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3516FDB-E87E-1DC5-C370-648441D1BE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94100" indent="-457200">
              <a:buAutoNum type="arabicPeriod"/>
            </a:pPr>
            <a:r>
              <a:rPr lang="es-AR" sz="3200" dirty="0"/>
              <a:t>Problema</a:t>
            </a:r>
          </a:p>
          <a:p>
            <a:pPr marL="494100" indent="-457200">
              <a:buAutoNum type="arabicPeriod"/>
            </a:pPr>
            <a:r>
              <a:rPr lang="es-AR" sz="3200" dirty="0"/>
              <a:t>Simulación</a:t>
            </a:r>
          </a:p>
          <a:p>
            <a:pPr marL="494100" indent="-457200">
              <a:buAutoNum type="arabicPeriod"/>
            </a:pPr>
            <a:r>
              <a:rPr lang="es-AR" sz="3200" dirty="0"/>
              <a:t>Resultados</a:t>
            </a:r>
          </a:p>
          <a:p>
            <a:pPr marL="494100" indent="-457200">
              <a:buAutoNum type="arabicPeriod"/>
            </a:pPr>
            <a:r>
              <a:rPr lang="es-AR" sz="3200" dirty="0"/>
              <a:t>Conclusión</a:t>
            </a:r>
          </a:p>
        </p:txBody>
      </p: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1D56E17A-26B1-2C05-2709-A9E094283657}"/>
              </a:ext>
            </a:extLst>
          </p:cNvPr>
          <p:cNvCxnSpPr>
            <a:cxnSpLocks/>
          </p:cNvCxnSpPr>
          <p:nvPr/>
        </p:nvCxnSpPr>
        <p:spPr>
          <a:xfrm>
            <a:off x="1051560" y="2377440"/>
            <a:ext cx="923544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745B4D8D-7776-187C-DAA5-29553627D00F}"/>
              </a:ext>
            </a:extLst>
          </p:cNvPr>
          <p:cNvCxnSpPr>
            <a:cxnSpLocks/>
          </p:cNvCxnSpPr>
          <p:nvPr/>
        </p:nvCxnSpPr>
        <p:spPr>
          <a:xfrm>
            <a:off x="1051560" y="3005328"/>
            <a:ext cx="923544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C48023F8-1260-E0E1-52A9-5C44C739E81C}"/>
              </a:ext>
            </a:extLst>
          </p:cNvPr>
          <p:cNvCxnSpPr>
            <a:cxnSpLocks/>
          </p:cNvCxnSpPr>
          <p:nvPr/>
        </p:nvCxnSpPr>
        <p:spPr>
          <a:xfrm>
            <a:off x="1051560" y="3706368"/>
            <a:ext cx="923544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recto 9">
            <a:extLst>
              <a:ext uri="{FF2B5EF4-FFF2-40B4-BE49-F238E27FC236}">
                <a16:creationId xmlns:a16="http://schemas.microsoft.com/office/drawing/2014/main" id="{75077667-2DAA-6584-32DD-53664557756B}"/>
              </a:ext>
            </a:extLst>
          </p:cNvPr>
          <p:cNvCxnSpPr>
            <a:cxnSpLocks/>
          </p:cNvCxnSpPr>
          <p:nvPr/>
        </p:nvCxnSpPr>
        <p:spPr>
          <a:xfrm>
            <a:off x="1051560" y="4392168"/>
            <a:ext cx="923544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834276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4088FB-5FAA-CD81-95B6-4124ECA701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AR" dirty="0"/>
              <a:t>Problema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5F9A206-FD74-0C6F-0364-31EEFB6076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29771691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Marcador de posición de imagen 5">
            <a:extLst>
              <a:ext uri="{FF2B5EF4-FFF2-40B4-BE49-F238E27FC236}">
                <a16:creationId xmlns:a16="http://schemas.microsoft.com/office/drawing/2014/main" id="{F739CA1D-8955-AA66-5116-9CB079ACBFC0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t="17195" b="17195"/>
          <a:stretch/>
        </p:blipFill>
        <p:spPr>
          <a:prstGeom prst="rect">
            <a:avLst/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</p:pic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83CC15CC-8E79-3687-73EA-67FC6AFB1C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13795" y="4398264"/>
            <a:ext cx="10353762" cy="1392936"/>
          </a:xfrm>
        </p:spPr>
        <p:txBody>
          <a:bodyPr>
            <a:normAutofit/>
          </a:bodyPr>
          <a:lstStyle/>
          <a:p>
            <a:r>
              <a:rPr lang="es-ES" sz="2000" dirty="0">
                <a:effectLst/>
              </a:rPr>
              <a:t>Ante el crecimiento de la demanda, una empresa enfrenta la necesidad de validar su capacidad de respuesta y determinar si se requiere inversión en hardware adicional o una reconfiguración de la lógica de despacho. El desafío principal es garantizar la Calidad de Servicio (</a:t>
            </a:r>
            <a:r>
              <a:rPr lang="es-ES" sz="2000" dirty="0" err="1">
                <a:effectLst/>
              </a:rPr>
              <a:t>QoS</a:t>
            </a:r>
            <a:r>
              <a:rPr lang="es-ES" sz="2000" dirty="0">
                <a:effectLst/>
              </a:rPr>
              <a:t>), evitando la saturación de los servidores y minimizando los tiempos de espera.</a:t>
            </a:r>
            <a:endParaRPr lang="es-AR" sz="2000" dirty="0"/>
          </a:p>
        </p:txBody>
      </p:sp>
    </p:spTree>
    <p:extLst>
      <p:ext uri="{BB962C8B-B14F-4D97-AF65-F5344CB8AC3E}">
        <p14:creationId xmlns:p14="http://schemas.microsoft.com/office/powerpoint/2010/main" val="10651919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567BAD9-37EC-6382-C7FF-52EEA6FD4F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AR" dirty="0"/>
              <a:t>Respuesta al problema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8239A51-4926-4F2D-9FA0-52B6CBF489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36900" indent="0">
              <a:buNone/>
            </a:pPr>
            <a:r>
              <a:rPr lang="es-ES" sz="3200" dirty="0">
                <a:effectLst/>
              </a:rPr>
              <a:t>Para Evaluar el caso de inversión, analizaremos el comportamiento del sistema mediante una simulación de eventos para determinar la configuración óptima de servidores. </a:t>
            </a:r>
          </a:p>
          <a:p>
            <a:pPr marL="36900" indent="0">
              <a:buNone/>
            </a:pPr>
            <a:r>
              <a:rPr lang="es-ES" sz="3200" dirty="0">
                <a:effectLst/>
              </a:rPr>
              <a:t>Se busca maximizar el procesamiento y minimizar el tiempo de permanencia en el sistema, analizando cinco escenarios basados en la actualidad y el presupuesto máximo de servidores posibles a incorporar (3).</a:t>
            </a:r>
            <a:endParaRPr lang="es-AR" sz="3200" dirty="0"/>
          </a:p>
        </p:txBody>
      </p:sp>
    </p:spTree>
    <p:extLst>
      <p:ext uri="{BB962C8B-B14F-4D97-AF65-F5344CB8AC3E}">
        <p14:creationId xmlns:p14="http://schemas.microsoft.com/office/powerpoint/2010/main" val="15089794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489050-6233-046A-6564-DEBDC9B4E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DCBDC7-17B8-77AE-31E7-47F6AE509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AR" dirty="0"/>
              <a:t>Simulación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361F80A-8DC4-E8A2-8EC7-C1E55BF86F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28375898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079A06-B304-1126-F76E-A41C08EACB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54E422E-7D76-966C-1BBA-0BC4C8A4EE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AR" dirty="0"/>
              <a:t>Contexto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31C2E766-80E1-B7D6-7EE4-B3C1AE63AC92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s-ES" sz="2000" dirty="0">
                <a:effectLst/>
              </a:rPr>
              <a:t>El sistema bajo estudio consiste en la infraestructura de servidores </a:t>
            </a:r>
            <a:r>
              <a:rPr lang="es-ES" sz="2000" dirty="0" err="1">
                <a:effectLst/>
              </a:rPr>
              <a:t>on</a:t>
            </a:r>
            <a:r>
              <a:rPr lang="es-ES" sz="2000" dirty="0">
                <a:effectLst/>
              </a:rPr>
              <a:t>-premise. </a:t>
            </a:r>
          </a:p>
          <a:p>
            <a:r>
              <a:rPr lang="es-ES" sz="2000" dirty="0">
                <a:effectLst/>
              </a:rPr>
              <a:t>El puerto crítico de acceso es el puerto 51413, el cual centraliza el tráfico de servicios y aplicaciones críticas.</a:t>
            </a:r>
            <a:r>
              <a:rPr lang="es-AR" sz="2000" dirty="0">
                <a:effectLst/>
              </a:rPr>
              <a:t> Las conexiones son clasificadas en colas de espera según su protocolo.</a:t>
            </a:r>
          </a:p>
          <a:p>
            <a:r>
              <a:rPr lang="es-AR" sz="2000" dirty="0">
                <a:effectLst/>
              </a:rPr>
              <a:t>El sistema siempre priorizará las conexiones UDP sobre las TCP al momento de recibir un flujo.</a:t>
            </a:r>
            <a:endParaRPr lang="es-AR" dirty="0"/>
          </a:p>
        </p:txBody>
      </p:sp>
      <p:sp>
        <p:nvSpPr>
          <p:cNvPr id="8" name="Marcador de posición de imagen 7">
            <a:extLst>
              <a:ext uri="{FF2B5EF4-FFF2-40B4-BE49-F238E27FC236}">
                <a16:creationId xmlns:a16="http://schemas.microsoft.com/office/drawing/2014/main" id="{13AE32FD-2A36-08EA-D35B-425E8EA7B1A5}"/>
              </a:ext>
            </a:extLst>
          </p:cNvPr>
          <p:cNvSpPr>
            <a:spLocks noGrp="1"/>
          </p:cNvSpPr>
          <p:nvPr>
            <p:ph type="pic" idx="1"/>
          </p:nvPr>
        </p:nvSpPr>
        <p:spPr/>
        <p:txBody>
          <a:bodyPr/>
          <a:lstStyle/>
          <a:p>
            <a:endParaRPr lang="es-AR"/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A1F8BA43-33E5-1F8D-0903-09922DB0AC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2550" y="763702"/>
            <a:ext cx="3275751" cy="4912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89204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704B63-62C3-F7B6-52C1-F91B766647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AR" dirty="0"/>
              <a:t>Contexto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161B406-B2EB-13F0-D5AB-D56B05DEEE61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s-AR" sz="2000" dirty="0">
                <a:effectLst/>
              </a:rPr>
              <a:t>Luego, los servidores pueden ser de dos clases:</a:t>
            </a:r>
          </a:p>
          <a:p>
            <a:endParaRPr lang="es-AR" sz="2000" dirty="0">
              <a:effectLst/>
            </a:endParaRPr>
          </a:p>
          <a:p>
            <a:pPr algn="l"/>
            <a:r>
              <a:rPr lang="es-AR" sz="2000" b="1" u="sng" dirty="0">
                <a:effectLst/>
              </a:rPr>
              <a:t>Clase A:</a:t>
            </a:r>
            <a:r>
              <a:rPr lang="es-AR" sz="2000" b="1" dirty="0">
                <a:effectLst/>
              </a:rPr>
              <a:t> </a:t>
            </a:r>
            <a:r>
              <a:rPr lang="es-AR" sz="2000" dirty="0">
                <a:effectLst/>
              </a:rPr>
              <a:t>Acepta solamente conexiones UDP</a:t>
            </a:r>
          </a:p>
          <a:p>
            <a:pPr algn="l"/>
            <a:endParaRPr lang="es-AR" sz="2000" dirty="0">
              <a:effectLst/>
            </a:endParaRPr>
          </a:p>
          <a:p>
            <a:pPr algn="l"/>
            <a:r>
              <a:rPr lang="es-AR" sz="2000" b="1" u="sng" dirty="0">
                <a:effectLst/>
              </a:rPr>
              <a:t>Clase B:</a:t>
            </a:r>
            <a:r>
              <a:rPr lang="es-AR" sz="2000" b="1" dirty="0">
                <a:effectLst/>
              </a:rPr>
              <a:t> </a:t>
            </a:r>
            <a:r>
              <a:rPr lang="es-AR" sz="2000" dirty="0">
                <a:effectLst/>
              </a:rPr>
              <a:t>Acepta tanto conexiones UDP como TCP</a:t>
            </a:r>
            <a:endParaRPr lang="es-AR" dirty="0"/>
          </a:p>
        </p:txBody>
      </p:sp>
      <p:sp>
        <p:nvSpPr>
          <p:cNvPr id="8" name="Marcador de posición de imagen 7">
            <a:extLst>
              <a:ext uri="{FF2B5EF4-FFF2-40B4-BE49-F238E27FC236}">
                <a16:creationId xmlns:a16="http://schemas.microsoft.com/office/drawing/2014/main" id="{874F92C1-D4BB-EC0D-A902-D9BA19EF4F0F}"/>
              </a:ext>
            </a:extLst>
          </p:cNvPr>
          <p:cNvSpPr>
            <a:spLocks noGrp="1"/>
          </p:cNvSpPr>
          <p:nvPr>
            <p:ph type="pic" idx="1"/>
          </p:nvPr>
        </p:nvSpPr>
        <p:spPr/>
        <p:txBody>
          <a:bodyPr/>
          <a:lstStyle/>
          <a:p>
            <a:endParaRPr lang="es-AR"/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5C1969FE-D776-DE11-C136-607B397293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2550" y="763702"/>
            <a:ext cx="3275751" cy="4912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96320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0FFC96-A577-A783-D6BD-71A26EFAF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B8898A-875F-7027-8617-CA067C045D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AR" dirty="0"/>
              <a:t>Escenarios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2AE71F27-AD0E-6750-2B46-556F6E3731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732449"/>
            <a:ext cx="10353762" cy="1147911"/>
          </a:xfrm>
        </p:spPr>
        <p:txBody>
          <a:bodyPr/>
          <a:lstStyle/>
          <a:p>
            <a:r>
              <a:rPr lang="es-AR" sz="2000" dirty="0">
                <a:effectLst/>
              </a:rPr>
              <a:t>Para evaluar los diferentes escenarios que están dentro del margen de discusión de la empresa sobre si invertir o no, contamos con los siguientes parámetros con los que analizaremos los escenarios posibles:</a:t>
            </a:r>
            <a:endParaRPr lang="es-AR" dirty="0"/>
          </a:p>
        </p:txBody>
      </p:sp>
      <p:graphicFrame>
        <p:nvGraphicFramePr>
          <p:cNvPr id="3" name="Tabla 2">
            <a:extLst>
              <a:ext uri="{FF2B5EF4-FFF2-40B4-BE49-F238E27FC236}">
                <a16:creationId xmlns:a16="http://schemas.microsoft.com/office/drawing/2014/main" id="{53BE4878-9E17-C64F-E2C3-F30B492F86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1232751"/>
              </p:ext>
            </p:extLst>
          </p:nvPr>
        </p:nvGraphicFramePr>
        <p:xfrm>
          <a:off x="924443" y="3020144"/>
          <a:ext cx="9536292" cy="3298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9382">
                  <a:extLst>
                    <a:ext uri="{9D8B030D-6E8A-4147-A177-3AD203B41FA5}">
                      <a16:colId xmlns:a16="http://schemas.microsoft.com/office/drawing/2014/main" val="3463071322"/>
                    </a:ext>
                  </a:extLst>
                </a:gridCol>
                <a:gridCol w="1589382">
                  <a:extLst>
                    <a:ext uri="{9D8B030D-6E8A-4147-A177-3AD203B41FA5}">
                      <a16:colId xmlns:a16="http://schemas.microsoft.com/office/drawing/2014/main" val="3602925912"/>
                    </a:ext>
                  </a:extLst>
                </a:gridCol>
                <a:gridCol w="1589382">
                  <a:extLst>
                    <a:ext uri="{9D8B030D-6E8A-4147-A177-3AD203B41FA5}">
                      <a16:colId xmlns:a16="http://schemas.microsoft.com/office/drawing/2014/main" val="2166077142"/>
                    </a:ext>
                  </a:extLst>
                </a:gridCol>
                <a:gridCol w="1589382">
                  <a:extLst>
                    <a:ext uri="{9D8B030D-6E8A-4147-A177-3AD203B41FA5}">
                      <a16:colId xmlns:a16="http://schemas.microsoft.com/office/drawing/2014/main" val="3189478065"/>
                    </a:ext>
                  </a:extLst>
                </a:gridCol>
                <a:gridCol w="1589382">
                  <a:extLst>
                    <a:ext uri="{9D8B030D-6E8A-4147-A177-3AD203B41FA5}">
                      <a16:colId xmlns:a16="http://schemas.microsoft.com/office/drawing/2014/main" val="1081078500"/>
                    </a:ext>
                  </a:extLst>
                </a:gridCol>
                <a:gridCol w="1589382">
                  <a:extLst>
                    <a:ext uri="{9D8B030D-6E8A-4147-A177-3AD203B41FA5}">
                      <a16:colId xmlns:a16="http://schemas.microsoft.com/office/drawing/2014/main" val="1659293887"/>
                    </a:ext>
                  </a:extLst>
                </a:gridCol>
              </a:tblGrid>
              <a:tr h="555160">
                <a:tc>
                  <a:txBody>
                    <a:bodyPr/>
                    <a:lstStyle/>
                    <a:p>
                      <a:r>
                        <a:rPr lang="es-AR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Escenario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AR" dirty="0"/>
                        <a:t>I (Actual)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AR" dirty="0"/>
                        <a:t>II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AR" dirty="0"/>
                        <a:t>III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AR" dirty="0"/>
                        <a:t>IV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AR" dirty="0"/>
                        <a:t>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3397375"/>
                  </a:ext>
                </a:extLst>
              </a:tr>
              <a:tr h="807064"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r>
                        <a:rPr lang="es-AR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(N) Servidores clase A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AR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AR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AR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AR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AR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9609668"/>
                  </a:ext>
                </a:extLst>
              </a:tr>
              <a:tr h="807064"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r>
                        <a:rPr lang="es-AR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(M)</a:t>
                      </a:r>
                    </a:p>
                    <a:p>
                      <a:pPr marL="0" algn="l" defTabSz="457200" rtl="0" eaLnBrk="1" latinLnBrk="0" hangingPunct="1"/>
                      <a:r>
                        <a:rPr lang="es-AR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Servidores clase B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AR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AR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AR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AR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AR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86690"/>
                  </a:ext>
                </a:extLst>
              </a:tr>
              <a:tr h="807064"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r>
                        <a:rPr lang="es-AR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(TO) </a:t>
                      </a:r>
                      <a:br>
                        <a:rPr lang="es-AR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es-AR" sz="1800" b="1" kern="1200" dirty="0" err="1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Timeout</a:t>
                      </a:r>
                      <a:r>
                        <a:rPr lang="es-AR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 establecido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AR" dirty="0"/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AR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AR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AR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AR" dirty="0"/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56059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594065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488C65-7168-7BA4-829E-6ED29E6842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C99794F-25E9-6320-47C6-1F02D370E7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AR"/>
              <a:t>Resultados</a:t>
            </a:r>
            <a:endParaRPr lang="es-AR" dirty="0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0045EC68-D49F-2699-ACFA-AF7B35A796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388724292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Pizarra">
  <a:themeElements>
    <a:clrScheme name="Papel">
      <a:dk1>
        <a:sysClr val="windowText" lastClr="000000"/>
      </a:dk1>
      <a:lt1>
        <a:sysClr val="window" lastClr="FFFFFF"/>
      </a:lt1>
      <a:dk2>
        <a:srgbClr val="444D26"/>
      </a:dk2>
      <a:lt2>
        <a:srgbClr val="FEFAC9"/>
      </a:lt2>
      <a:accent1>
        <a:srgbClr val="A5B592"/>
      </a:accent1>
      <a:accent2>
        <a:srgbClr val="F3A447"/>
      </a:accent2>
      <a:accent3>
        <a:srgbClr val="E7BC29"/>
      </a:accent3>
      <a:accent4>
        <a:srgbClr val="D092A7"/>
      </a:accent4>
      <a:accent5>
        <a:srgbClr val="9C85C0"/>
      </a:accent5>
      <a:accent6>
        <a:srgbClr val="809EC2"/>
      </a:accent6>
      <a:hlink>
        <a:srgbClr val="8E58B6"/>
      </a:hlink>
      <a:folHlink>
        <a:srgbClr val="7F6F6F"/>
      </a:folHlink>
    </a:clrScheme>
    <a:fontScheme name="Pizarra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izarra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TM04033929[[fn=Pizarra]]</Template>
  <TotalTime>166</TotalTime>
  <Words>316</Words>
  <Application>Microsoft Office PowerPoint</Application>
  <PresentationFormat>Panorámica</PresentationFormat>
  <Paragraphs>52</Paragraphs>
  <Slides>10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3" baseType="lpstr">
      <vt:lpstr>Calisto MT</vt:lpstr>
      <vt:lpstr>Wingdings 2</vt:lpstr>
      <vt:lpstr>Pizarra</vt:lpstr>
      <vt:lpstr>QoS en servidores de empresa</vt:lpstr>
      <vt:lpstr>Agenda</vt:lpstr>
      <vt:lpstr>Problema</vt:lpstr>
      <vt:lpstr>Presentación de PowerPoint</vt:lpstr>
      <vt:lpstr>Respuesta al problema</vt:lpstr>
      <vt:lpstr>Simulación</vt:lpstr>
      <vt:lpstr>Contexto</vt:lpstr>
      <vt:lpstr>Contexto</vt:lpstr>
      <vt:lpstr>Escenarios</vt:lpstr>
      <vt:lpstr>Resultados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Guillermo Federico CACACE</dc:creator>
  <cp:lastModifiedBy>Guillermo Federico CACACE</cp:lastModifiedBy>
  <cp:revision>2</cp:revision>
  <dcterms:created xsi:type="dcterms:W3CDTF">2026-05-24T21:57:36Z</dcterms:created>
  <dcterms:modified xsi:type="dcterms:W3CDTF">2026-05-25T02:40:03Z</dcterms:modified>
</cp:coreProperties>
</file>