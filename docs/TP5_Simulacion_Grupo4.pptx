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modernComment_113_28167D32.xml" ContentType="application/vnd.ms-powerpoint.comments+xml"/>
  <Override PartName="/ppt/comments/modernComment_10D_EE689C95.xml" ContentType="application/vnd.ms-powerpoint.comments+xml"/>
  <Override PartName="/ppt/comments/modernComment_10F_C7AC22BB.xml" ContentType="application/vnd.ms-powerpoint.comments+xml"/>
  <Override PartName="/ppt/comments/modernComment_111_E873365D.xml" ContentType="application/vnd.ms-powerpoint.comments+xml"/>
  <Override PartName="/ppt/comments/modernComment_115_20DFB837.xml" ContentType="application/vnd.ms-powerpoint.comments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  <p:sldId id="257" r:id="rId3"/>
    <p:sldId id="258" r:id="rId4"/>
    <p:sldId id="260" r:id="rId5"/>
    <p:sldId id="262" r:id="rId6"/>
    <p:sldId id="261" r:id="rId7"/>
    <p:sldId id="265" r:id="rId8"/>
    <p:sldId id="264" r:id="rId9"/>
    <p:sldId id="266" r:id="rId10"/>
    <p:sldId id="268" r:id="rId11"/>
    <p:sldId id="275" r:id="rId12"/>
    <p:sldId id="276" r:id="rId13"/>
    <p:sldId id="269" r:id="rId14"/>
    <p:sldId id="270" r:id="rId15"/>
    <p:sldId id="271" r:id="rId16"/>
    <p:sldId id="272" r:id="rId17"/>
    <p:sldId id="273" r:id="rId18"/>
    <p:sldId id="274" r:id="rId19"/>
    <p:sldId id="277" r:id="rId20"/>
    <p:sldId id="278" r:id="rId21"/>
    <p:sldId id="279" r:id="rId22"/>
    <p:sldId id="280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464C5B0-C227-F21D-B2F1-7674ACFE52EF}" name="Guillermo Federico CACACE" initials="GC" userId="a541a8ba38776122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8/10/relationships/authors" Target="author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omments/modernComment_10D_EE689C95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0B9BFF6-D75F-4043-90E9-7C762FB25D54}" authorId="{B464C5B0-C227-F21D-B2F1-7674ACFE52EF}" created="2026-05-25T14:55:06.33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999833237" sldId="269"/>
      <ac:spMk id="2" creationId="{79B7201B-781D-B10D-7090-2248D1CA71B8}"/>
      <ac:txMk cp="22" len="4">
        <ac:context len="27" hash="308980807"/>
      </ac:txMk>
    </ac:txMkLst>
    <p188:pos x="8163531" y="400050"/>
    <p188:txBody>
      <a:bodyPr/>
      <a:lstStyle/>
      <a:p>
        <a:r>
          <a:rPr lang="es-AR"/>
          <a:t>Grafico torta UDP vs TCP</a:t>
        </a:r>
      </a:p>
    </p188:txBody>
  </p188:cm>
</p188:cmLst>
</file>

<file path=ppt/comments/modernComment_10F_C7AC22B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044A2DD-00ED-4B4B-A2A2-665F720C1733}" authorId="{B464C5B0-C227-F21D-B2F1-7674ACFE52EF}" created="2026-05-25T14:55:06.33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349947067" sldId="271"/>
      <ac:spMk id="2" creationId="{74FF1088-6BD5-58E8-0C5D-5288E3148F07}"/>
      <ac:txMk cp="0" len="1">
        <ac:context len="44" hash="2572100193"/>
      </ac:txMk>
    </ac:txMkLst>
    <p188:pos x="8163531" y="400050"/>
    <p188:txBody>
      <a:bodyPr/>
      <a:lstStyle/>
      <a:p>
        <a:r>
          <a:rPr lang="es-AR"/>
          <a:t>Grafico torta UDP vs TCP</a:t>
        </a:r>
      </a:p>
    </p188:txBody>
  </p188:cm>
</p188:cmLst>
</file>

<file path=ppt/comments/modernComment_111_E873365D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D280EB07-4417-49D9-9445-6E49EF13CA0B}" authorId="{B464C5B0-C227-F21D-B2F1-7674ACFE52EF}" created="2026-05-25T14:55:06.33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3899864669" sldId="273"/>
      <ac:spMk id="2" creationId="{86118E2B-5EB7-6029-AEBC-3CB415F601B7}"/>
      <ac:txMk cp="0" len="1">
        <ac:context len="44" hash="2572100226"/>
      </ac:txMk>
    </ac:txMkLst>
    <p188:pos x="8163531" y="400050"/>
    <p188:txBody>
      <a:bodyPr/>
      <a:lstStyle/>
      <a:p>
        <a:r>
          <a:rPr lang="es-AR"/>
          <a:t>Grafico torta UDP vs TCP</a:t>
        </a:r>
      </a:p>
    </p188:txBody>
  </p188:cm>
</p188:cmLst>
</file>

<file path=ppt/comments/modernComment_113_28167D32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41424475-4A06-4E06-AF71-B6B54A6910E8}" authorId="{B464C5B0-C227-F21D-B2F1-7674ACFE52EF}" created="2026-05-25T14:55:06.33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672562482" sldId="275"/>
      <ac:spMk id="2" creationId="{36048EE2-CB47-6C53-5332-EF5E41721A7B}"/>
      <ac:txMk cp="0" len="1">
        <ac:context len="29" hash="708189116"/>
      </ac:txMk>
    </ac:txMkLst>
    <p188:pos x="8163531" y="400050"/>
    <p188:txBody>
      <a:bodyPr/>
      <a:lstStyle/>
      <a:p>
        <a:r>
          <a:rPr lang="es-AR"/>
          <a:t>Grafico torta UDP vs TCP</a:t>
        </a:r>
      </a:p>
    </p188:txBody>
  </p188:cm>
</p188:cmLst>
</file>

<file path=ppt/comments/modernComment_115_20DFB837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D8EB5F5-D302-4C24-87DA-C90F5C533231}" authorId="{B464C5B0-C227-F21D-B2F1-7674ACFE52EF}" created="2026-05-25T14:55:06.334">
    <ac:txMkLst xmlns:ac="http://schemas.microsoft.com/office/drawing/2013/main/command">
      <pc:docMk xmlns:pc="http://schemas.microsoft.com/office/powerpoint/2013/main/command"/>
      <pc:sldMk xmlns:pc="http://schemas.microsoft.com/office/powerpoint/2013/main/command" cId="551532599" sldId="277"/>
      <ac:spMk id="2" creationId="{3B9ACFB3-3B60-3E46-03CC-D27E188177E4}"/>
      <ac:txMk cp="0" len="1">
        <ac:context len="34" hash="781625668"/>
      </ac:txMk>
    </ac:txMkLst>
    <p188:pos x="8163531" y="400050"/>
    <p188:txBody>
      <a:bodyPr/>
      <a:lstStyle/>
      <a:p>
        <a:r>
          <a:rPr lang="es-AR"/>
          <a:t>Grafico torta UDP vs TCP</a:t>
        </a:r>
      </a:p>
    </p188:txBody>
  </p188:cm>
</p188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MX"/>
              <a:t>Haz clic para editar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070756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901240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16722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823866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8524440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7158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29770932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822362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7976602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727909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1839446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373798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943043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423381107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lumna de imagen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MX"/>
              <a:t>Haz clic en el icono para agregar una imagen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MX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3314236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6353133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7593345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MX"/>
              <a:t>Haz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s-MX"/>
              <a:t>Haga clic para modificar los estilos de texto del patrón</a:t>
            </a:r>
          </a:p>
          <a:p>
            <a:pPr lvl="1"/>
            <a:r>
              <a:rPr lang="es-MX"/>
              <a:t>Segundo nivel</a:t>
            </a:r>
          </a:p>
          <a:p>
            <a:pPr lvl="2"/>
            <a:r>
              <a:rPr lang="es-MX"/>
              <a:t>Tercer nivel</a:t>
            </a:r>
          </a:p>
          <a:p>
            <a:pPr lvl="3"/>
            <a:r>
              <a:rPr lang="es-MX"/>
              <a:t>Cuarto nivel</a:t>
            </a:r>
          </a:p>
          <a:p>
            <a:pPr lvl="4"/>
            <a:r>
              <a:rPr lang="es-MX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A173C4-FDFE-4CC9-A892-42A8535F64AC}" type="datetimeFigureOut">
              <a:rPr lang="es-AR" smtClean="0"/>
              <a:t>25/5/2026</a:t>
            </a:fld>
            <a:endParaRPr lang="es-A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s-A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558580B-3E51-4415-BA5D-7347DEE0FF6B}" type="slidenum">
              <a:rPr lang="es-AR" smtClean="0"/>
              <a:t>‹Nº›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3575808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  <p:sldLayoutId id="2147483708" r:id="rId12"/>
    <p:sldLayoutId id="2147483709" r:id="rId13"/>
    <p:sldLayoutId id="2147483710" r:id="rId14"/>
    <p:sldLayoutId id="2147483711" r:id="rId15"/>
    <p:sldLayoutId id="2147483712" r:id="rId16"/>
    <p:sldLayoutId id="2147483713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3_28167D32.xml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3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D_EE689C95.xml"/><Relationship Id="rId1" Type="http://schemas.openxmlformats.org/officeDocument/2006/relationships/slideLayout" Target="../slideLayouts/slideLayout1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5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0F_C7AC22BB.xml"/><Relationship Id="rId1" Type="http://schemas.openxmlformats.org/officeDocument/2006/relationships/slideLayout" Target="../slideLayouts/slideLayout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7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1_E873365D.xml"/><Relationship Id="rId1" Type="http://schemas.openxmlformats.org/officeDocument/2006/relationships/slideLayout" Target="../slideLayouts/slideLayout1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19.xml.rels><?xml version="1.0" encoding="UTF-8" standalone="yes"?>
<Relationships xmlns="http://schemas.openxmlformats.org/package/2006/relationships"><Relationship Id="rId2" Type="http://schemas.microsoft.com/office/2018/10/relationships/comments" Target="../comments/modernComment_115_20DFB837.xml"/><Relationship Id="rId1" Type="http://schemas.openxmlformats.org/officeDocument/2006/relationships/slideLayout" Target="../slideLayouts/slideLayout1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DD9211-6A9B-B001-6A3C-CC5C74A366E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AR" dirty="0" err="1"/>
              <a:t>QoS</a:t>
            </a:r>
            <a:r>
              <a:rPr lang="es-AR" dirty="0"/>
              <a:t> en servidores de empresa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94A0497-261E-D8A7-F65E-B02C6073EC9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s-AR" dirty="0"/>
              <a:t>Trabajo práctico N°5 – Simulación</a:t>
            </a:r>
          </a:p>
          <a:p>
            <a:r>
              <a:rPr lang="es-AR" dirty="0"/>
              <a:t>Curso: K4152 - Grupo 4</a:t>
            </a:r>
          </a:p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9146825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EBD14DB-7460-EA12-4BCC-740C9EB7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Agenda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53516FDB-E87E-1DC5-C370-648441D1BE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494100" indent="-457200">
              <a:buAutoNum type="arabicPeriod"/>
            </a:pPr>
            <a:r>
              <a:rPr lang="es-AR" sz="3200" dirty="0"/>
              <a:t>Problema</a:t>
            </a:r>
          </a:p>
          <a:p>
            <a:pPr marL="494100" indent="-457200">
              <a:buAutoNum type="arabicPeriod"/>
            </a:pPr>
            <a:r>
              <a:rPr lang="es-AR" sz="3200" dirty="0"/>
              <a:t>Simulación</a:t>
            </a:r>
          </a:p>
          <a:p>
            <a:pPr marL="494100" indent="-457200">
              <a:buAutoNum type="arabicPeriod"/>
            </a:pPr>
            <a:r>
              <a:rPr lang="es-AR" sz="3200" dirty="0"/>
              <a:t>Resultados</a:t>
            </a:r>
          </a:p>
          <a:p>
            <a:pPr marL="494100" indent="-457200">
              <a:buAutoNum type="arabicPeriod"/>
            </a:pPr>
            <a:r>
              <a:rPr lang="es-AR" sz="3200" dirty="0"/>
              <a:t>Conclusión</a:t>
            </a:r>
          </a:p>
        </p:txBody>
      </p:sp>
      <p:cxnSp>
        <p:nvCxnSpPr>
          <p:cNvPr id="5" name="Conector recto 4">
            <a:extLst>
              <a:ext uri="{FF2B5EF4-FFF2-40B4-BE49-F238E27FC236}">
                <a16:creationId xmlns:a16="http://schemas.microsoft.com/office/drawing/2014/main" id="{1D56E17A-26B1-2C05-2709-A9E094283657}"/>
              </a:ext>
            </a:extLst>
          </p:cNvPr>
          <p:cNvCxnSpPr>
            <a:cxnSpLocks/>
          </p:cNvCxnSpPr>
          <p:nvPr/>
        </p:nvCxnSpPr>
        <p:spPr>
          <a:xfrm>
            <a:off x="1051560" y="2377440"/>
            <a:ext cx="9235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recto 6">
            <a:extLst>
              <a:ext uri="{FF2B5EF4-FFF2-40B4-BE49-F238E27FC236}">
                <a16:creationId xmlns:a16="http://schemas.microsoft.com/office/drawing/2014/main" id="{745B4D8D-7776-187C-DAA5-29553627D00F}"/>
              </a:ext>
            </a:extLst>
          </p:cNvPr>
          <p:cNvCxnSpPr>
            <a:cxnSpLocks/>
          </p:cNvCxnSpPr>
          <p:nvPr/>
        </p:nvCxnSpPr>
        <p:spPr>
          <a:xfrm>
            <a:off x="1051560" y="3005328"/>
            <a:ext cx="9235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recto 8">
            <a:extLst>
              <a:ext uri="{FF2B5EF4-FFF2-40B4-BE49-F238E27FC236}">
                <a16:creationId xmlns:a16="http://schemas.microsoft.com/office/drawing/2014/main" id="{C48023F8-1260-E0E1-52A9-5C44C739E81C}"/>
              </a:ext>
            </a:extLst>
          </p:cNvPr>
          <p:cNvCxnSpPr>
            <a:cxnSpLocks/>
          </p:cNvCxnSpPr>
          <p:nvPr/>
        </p:nvCxnSpPr>
        <p:spPr>
          <a:xfrm>
            <a:off x="1051560" y="3706368"/>
            <a:ext cx="9235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recto 9">
            <a:extLst>
              <a:ext uri="{FF2B5EF4-FFF2-40B4-BE49-F238E27FC236}">
                <a16:creationId xmlns:a16="http://schemas.microsoft.com/office/drawing/2014/main" id="{75077667-2DAA-6584-32DD-53664557756B}"/>
              </a:ext>
            </a:extLst>
          </p:cNvPr>
          <p:cNvCxnSpPr>
            <a:cxnSpLocks/>
          </p:cNvCxnSpPr>
          <p:nvPr/>
        </p:nvCxnSpPr>
        <p:spPr>
          <a:xfrm>
            <a:off x="1051560" y="4392168"/>
            <a:ext cx="923544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83427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4088FB-5FAA-CD81-95B6-4124ECA70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Problema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5F9A206-FD74-0C6F-0364-31EEFB6076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9771691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Marcador de posición de imagen 5">
            <a:extLst>
              <a:ext uri="{FF2B5EF4-FFF2-40B4-BE49-F238E27FC236}">
                <a16:creationId xmlns:a16="http://schemas.microsoft.com/office/drawing/2014/main" id="{F739CA1D-8955-AA66-5116-9CB079ACBFC0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7195" b="17195"/>
          <a:stretch/>
        </p:blipFill>
        <p:spPr>
          <a:prstGeom prst="rect">
            <a:avLst/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83CC15CC-8E79-3687-73EA-67FC6AFB1C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3795" y="4398264"/>
            <a:ext cx="10353762" cy="1392936"/>
          </a:xfrm>
        </p:spPr>
        <p:txBody>
          <a:bodyPr>
            <a:normAutofit/>
          </a:bodyPr>
          <a:lstStyle/>
          <a:p>
            <a:r>
              <a:rPr lang="es-ES" sz="2000" dirty="0">
                <a:effectLst/>
              </a:rPr>
              <a:t>Ante el crecimiento de la demanda, una empresa enfrenta la necesidad de validar su capacidad de respuesta y determinar si se requiere inversión en hardware adicional o una reconfiguración de la lógica de despacho. El desafío principal es garantizar la Calidad de Servicio (</a:t>
            </a:r>
            <a:r>
              <a:rPr lang="es-ES" sz="2000" dirty="0" err="1">
                <a:effectLst/>
              </a:rPr>
              <a:t>QoS</a:t>
            </a:r>
            <a:r>
              <a:rPr lang="es-ES" sz="2000" dirty="0">
                <a:effectLst/>
              </a:rPr>
              <a:t>), evitando la saturación de los servidores y minimizando los tiempos de espera.</a:t>
            </a:r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10651919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567BAD9-37EC-6382-C7FF-52EEA6FD4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Respuesta al problema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8239A51-4926-4F2D-9FA0-52B6CBF489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6900" indent="0">
              <a:buNone/>
            </a:pPr>
            <a:r>
              <a:rPr lang="es-ES" sz="3200" dirty="0">
                <a:effectLst/>
              </a:rPr>
              <a:t>Para Evaluar el caso de inversión, analizaremos el comportamiento del sistema mediante una simulación de eventos para determinar la configuración óptima de servidores. </a:t>
            </a:r>
          </a:p>
          <a:p>
            <a:pPr marL="36900" indent="0">
              <a:buNone/>
            </a:pPr>
            <a:r>
              <a:rPr lang="es-ES" sz="3200" dirty="0">
                <a:effectLst/>
              </a:rPr>
              <a:t>Se busca maximizar el procesamiento y minimizar el tiempo de permanencia en el sistema, analizando cinco escenarios basados en la actualidad y el presupuesto máximo de servidores posibles a incorporar (3).</a:t>
            </a:r>
            <a:endParaRPr lang="es-AR" sz="3200" dirty="0"/>
          </a:p>
        </p:txBody>
      </p:sp>
    </p:spTree>
    <p:extLst>
      <p:ext uri="{BB962C8B-B14F-4D97-AF65-F5344CB8AC3E}">
        <p14:creationId xmlns:p14="http://schemas.microsoft.com/office/powerpoint/2010/main" val="150897946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489050-6233-046A-6564-DEBDC9B4E6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DCBDC7-17B8-77AE-31E7-47F6AE5090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Simulación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361F80A-8DC4-E8A2-8EC7-C1E55BF86F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8375898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079A06-B304-1126-F76E-A41C08EAC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54E422E-7D76-966C-1BBA-0BC4C8A4E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Contexto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1C2E766-80E1-B7D6-7EE4-B3C1AE63AC9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ES" sz="2000" dirty="0">
                <a:effectLst/>
              </a:rPr>
              <a:t>El sistema bajo estudio consiste en la infraestructura de servidores </a:t>
            </a:r>
            <a:r>
              <a:rPr lang="es-ES" sz="2000" dirty="0" err="1">
                <a:effectLst/>
              </a:rPr>
              <a:t>on</a:t>
            </a:r>
            <a:r>
              <a:rPr lang="es-ES" sz="2000" dirty="0">
                <a:effectLst/>
              </a:rPr>
              <a:t>-premise. </a:t>
            </a:r>
          </a:p>
          <a:p>
            <a:r>
              <a:rPr lang="es-ES" sz="2000" dirty="0">
                <a:effectLst/>
              </a:rPr>
              <a:t>El puerto crítico de acceso es el puerto 51413, el cual centraliza el tráfico de servicios y aplicaciones críticas.</a:t>
            </a:r>
            <a:r>
              <a:rPr lang="es-AR" sz="2000" dirty="0">
                <a:effectLst/>
              </a:rPr>
              <a:t> Las conexiones son clasificadas en colas de espera según su protocolo.</a:t>
            </a:r>
          </a:p>
          <a:p>
            <a:r>
              <a:rPr lang="es-AR" sz="2000" dirty="0">
                <a:effectLst/>
              </a:rPr>
              <a:t>El sistema siempre priorizará las conexiones UDP sobre las TCP al momento de recibir un flujo.</a:t>
            </a:r>
            <a:endParaRPr lang="es-AR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13AE32FD-2A36-08EA-D35B-425E8EA7B1A5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A1F8BA43-33E5-1F8D-0903-09922DB0A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550" y="763702"/>
            <a:ext cx="3275751" cy="4912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89204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D704B63-62C3-F7B6-52C1-F91B766647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Contexto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161B406-B2EB-13F0-D5AB-D56B05DEEE61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s-AR" sz="2000" dirty="0">
                <a:effectLst/>
              </a:rPr>
              <a:t>Luego, los servidores pueden ser de dos clases:</a:t>
            </a:r>
          </a:p>
          <a:p>
            <a:endParaRPr lang="es-AR" sz="2000" dirty="0">
              <a:effectLst/>
            </a:endParaRPr>
          </a:p>
          <a:p>
            <a:pPr algn="l"/>
            <a:r>
              <a:rPr lang="es-AR" sz="2000" b="1" u="sng" dirty="0">
                <a:effectLst/>
              </a:rPr>
              <a:t>Clase A:</a:t>
            </a:r>
            <a:r>
              <a:rPr lang="es-AR" sz="2000" b="1" dirty="0">
                <a:effectLst/>
              </a:rPr>
              <a:t> </a:t>
            </a:r>
            <a:r>
              <a:rPr lang="es-AR" sz="2000" dirty="0">
                <a:effectLst/>
              </a:rPr>
              <a:t>Acepta solamente conexiones UDP</a:t>
            </a:r>
          </a:p>
          <a:p>
            <a:pPr algn="l"/>
            <a:endParaRPr lang="es-AR" sz="2000" dirty="0">
              <a:effectLst/>
            </a:endParaRPr>
          </a:p>
          <a:p>
            <a:pPr algn="l"/>
            <a:r>
              <a:rPr lang="es-AR" sz="2000" b="1" u="sng" dirty="0">
                <a:effectLst/>
              </a:rPr>
              <a:t>Clase B:</a:t>
            </a:r>
            <a:r>
              <a:rPr lang="es-AR" sz="2000" b="1" dirty="0">
                <a:effectLst/>
              </a:rPr>
              <a:t> </a:t>
            </a:r>
            <a:r>
              <a:rPr lang="es-AR" sz="2000" dirty="0">
                <a:effectLst/>
              </a:rPr>
              <a:t>Acepta tanto conexiones UDP como TCP</a:t>
            </a:r>
            <a:endParaRPr lang="es-AR" dirty="0"/>
          </a:p>
        </p:txBody>
      </p:sp>
      <p:sp>
        <p:nvSpPr>
          <p:cNvPr id="8" name="Marcador de posición de imagen 7">
            <a:extLst>
              <a:ext uri="{FF2B5EF4-FFF2-40B4-BE49-F238E27FC236}">
                <a16:creationId xmlns:a16="http://schemas.microsoft.com/office/drawing/2014/main" id="{874F92C1-D4BB-EC0D-A902-D9BA19EF4F0F}"/>
              </a:ext>
            </a:extLst>
          </p:cNvPr>
          <p:cNvSpPr>
            <a:spLocks noGrp="1"/>
          </p:cNvSpPr>
          <p:nvPr>
            <p:ph type="pic" idx="1"/>
          </p:nvPr>
        </p:nvSpPr>
        <p:spPr/>
        <p:txBody>
          <a:bodyPr/>
          <a:lstStyle/>
          <a:p>
            <a:endParaRPr lang="es-AR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5C1969FE-D776-DE11-C136-607B397293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42550" y="763702"/>
            <a:ext cx="3275751" cy="4912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9632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0FFC96-A577-A783-D6BD-71A26EFAFD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2B8898A-875F-7027-8617-CA067C04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Escenarios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2AE71F27-AD0E-6750-2B46-556F6E3731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1147911"/>
          </a:xfrm>
        </p:spPr>
        <p:txBody>
          <a:bodyPr/>
          <a:lstStyle/>
          <a:p>
            <a:r>
              <a:rPr lang="es-AR" sz="2000" dirty="0">
                <a:effectLst/>
              </a:rPr>
              <a:t>Para evaluar los diferentes escenarios que están dentro del margen de discusión de la empresa sobre si invertir o no, contamos con los siguientes parámetros con los que analizaremos los escenarios posibles:</a:t>
            </a:r>
            <a:endParaRPr lang="es-AR" dirty="0"/>
          </a:p>
        </p:txBody>
      </p:sp>
      <p:graphicFrame>
        <p:nvGraphicFramePr>
          <p:cNvPr id="3" name="Tabla 2">
            <a:extLst>
              <a:ext uri="{FF2B5EF4-FFF2-40B4-BE49-F238E27FC236}">
                <a16:creationId xmlns:a16="http://schemas.microsoft.com/office/drawing/2014/main" id="{53BE4878-9E17-C64F-E2C3-F30B492F8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232751"/>
              </p:ext>
            </p:extLst>
          </p:nvPr>
        </p:nvGraphicFramePr>
        <p:xfrm>
          <a:off x="924443" y="3020144"/>
          <a:ext cx="9536292" cy="3298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9382">
                  <a:extLst>
                    <a:ext uri="{9D8B030D-6E8A-4147-A177-3AD203B41FA5}">
                      <a16:colId xmlns:a16="http://schemas.microsoft.com/office/drawing/2014/main" val="3463071322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3602925912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2166077142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3189478065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1081078500"/>
                    </a:ext>
                  </a:extLst>
                </a:gridCol>
                <a:gridCol w="1589382">
                  <a:extLst>
                    <a:ext uri="{9D8B030D-6E8A-4147-A177-3AD203B41FA5}">
                      <a16:colId xmlns:a16="http://schemas.microsoft.com/office/drawing/2014/main" val="1659293887"/>
                    </a:ext>
                  </a:extLst>
                </a:gridCol>
              </a:tblGrid>
              <a:tr h="555160">
                <a:tc>
                  <a:txBody>
                    <a:bodyPr/>
                    <a:lstStyle/>
                    <a:p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Escenario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I (Actual)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III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IV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V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3397375"/>
                  </a:ext>
                </a:extLst>
              </a:tr>
              <a:tr h="807064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(N) Servidores clase A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609668"/>
                  </a:ext>
                </a:extLst>
              </a:tr>
              <a:tr h="807064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(M)</a:t>
                      </a:r>
                    </a:p>
                    <a:p>
                      <a:pPr marL="0" algn="l" defTabSz="457200" rtl="0" eaLnBrk="1" latinLnBrk="0" hangingPunct="1"/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Servidores clase B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86690"/>
                  </a:ext>
                </a:extLst>
              </a:tr>
              <a:tr h="807064">
                <a:tc>
                  <a:txBody>
                    <a:bodyPr/>
                    <a:lstStyle/>
                    <a:p>
                      <a:pPr marL="0" algn="l" defTabSz="457200" rtl="0" eaLnBrk="1" latinLnBrk="0" hangingPunct="1"/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(TO) </a:t>
                      </a:r>
                      <a:b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</a:br>
                      <a:r>
                        <a:rPr lang="es-AR" sz="1800" b="1" kern="1200" dirty="0" err="1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Timeout</a:t>
                      </a:r>
                      <a:r>
                        <a:rPr lang="es-AR" sz="1800" b="1" kern="120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</a:rPr>
                        <a:t> establecido</a:t>
                      </a:r>
                    </a:p>
                  </a:txBody>
                  <a:tcP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AR" dirty="0"/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6059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594065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88C65-7168-7BA4-829E-6ED29E6842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C99794F-25E9-6320-47C6-1F02D370E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/>
              <a:t>Resultados</a:t>
            </a:r>
            <a:endParaRPr lang="es-AR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0045EC68-D49F-2699-ACFA-AF7B35A796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887242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548EF-3138-0688-D4F9-87B219FE2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6048EE2-CB47-6C53-5332-EF5E41721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Cantidad de flujos atendidos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7B291D39-09F8-0E29-ACA1-BC8CDC9F9F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7135FC28-1023-3A5A-E20F-EAAE1DA58A1E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E00A01C2-EAEF-8458-CF2F-D9F35A71F1DD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s-AR" dirty="0"/>
              <a:t>[indicador UDP vs TCP]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A6384D07-2C62-4B90-8B63-5BB38F140D0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II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7B2D277E-CB4B-0466-4AFA-46697FF5CA27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08B04E56-1C82-7668-8AC3-7755E221D6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1251EECC-BDF1-C5CF-8A68-5CB28F380A2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AR" dirty="0"/>
              <a:t>Escenario III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4F60B096-4EDA-35FC-90D3-6D48B0315174}"/>
              </a:ext>
            </a:extLst>
          </p:cNvPr>
          <p:cNvSpPr>
            <a:spLocks noGrp="1"/>
          </p:cNvSpPr>
          <p:nvPr>
            <p:ph type="pic" idx="22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3FA57C59-EC7E-599B-B658-EFA635C08CC7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672562482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095C30-5A4D-9682-497B-3323EE571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9905A1A-F5C6-EB92-34FA-34D5F8D839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Cantidad de flujos atendidos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1E6E5F-E731-E3C5-9700-0A253DF2B5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IV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79E0D2F4-1C53-0521-540B-9E2809A1ECBE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1C33536-9DA3-D178-FFC1-272B07A712E4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D674C1BF-A30D-DE0B-AAFD-20E96B81A3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V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B15AD8A6-8608-15BB-19BA-CC5DEC55165A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50F6C4D-0271-3156-4C2D-413B6BBC4BA4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40518446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B7201B-781D-B10D-7090-2248D1CA7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Promedio de espera en cola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6BE4CFC-36C8-2790-B963-1326B23AA4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672B81C5-DA73-1BD4-F4F1-76BE406D0A22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D43CE296-1D6C-BAA7-A5A4-1D091B405629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s-AR" dirty="0"/>
              <a:t>[histograma UDP vs TCP]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34CBC425-5D2C-844F-B6CB-91C8A85FDE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II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8C61CE6D-F7EE-E394-FB35-B509434238D1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0550AB4C-6D97-F2D2-874A-C27126B7EE37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ED4CD14C-B393-4B60-AC50-956B3146F23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AR" dirty="0"/>
              <a:t>Escenario III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4DAD977C-6963-093E-CFBE-EFBA64BAC7F5}"/>
              </a:ext>
            </a:extLst>
          </p:cNvPr>
          <p:cNvSpPr>
            <a:spLocks noGrp="1"/>
          </p:cNvSpPr>
          <p:nvPr>
            <p:ph type="pic" idx="22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E921376F-5772-C9BF-8D0A-23E769CDCC05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9983323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688674-51FC-DC67-AE55-D2C30430E5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842C069-B9EF-0C31-6E61-156226795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Promedio de espera en cola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2C8CFFBF-DAFB-B7AB-59DB-9136034C11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IV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2769B276-4902-6F73-2577-58AE8C8BDB38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824B2EDA-4F9D-2105-3A73-F72AEFB0C022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02A5C348-DDBB-8FCA-F27A-0A8AFA65DEE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V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420355DB-E22D-36C9-CA30-7A0B9A816356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18EF1B0F-A355-663B-1448-1CE4B3EDE197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1521866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E2FCDA-3842-7FA0-3F7A-84642C53B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4FF1088-6BD5-58E8-0C5D-5288E3148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Porcentaje tiempo ocioso servidores Clase 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9E38B5A-9740-F616-56E9-6B09F1BDFC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42FB580F-95CE-5778-EFAE-448A414F57C0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D8635DA-A474-9FA0-5956-B03AB36CC8DA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s-AR" dirty="0"/>
              <a:t>[histograma por servidor]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6A16B52B-133E-6A3D-0ECC-8612CC36AC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II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FCB58165-9393-21AC-2390-A58514881DF7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4C83EAC9-FA7A-8790-492A-B5235B18D12B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0125C240-8FA0-DF59-3C77-0F59A6F34DA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AR" dirty="0"/>
              <a:t>Escenario III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39E91B32-ED8B-E3D1-D6F9-FFF0AF40A3B1}"/>
              </a:ext>
            </a:extLst>
          </p:cNvPr>
          <p:cNvSpPr>
            <a:spLocks noGrp="1"/>
          </p:cNvSpPr>
          <p:nvPr>
            <p:ph type="pic" idx="22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36B5AB14-1EF6-BD90-3BCB-93758F6C98AD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349947067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87128-ADE2-5040-ECA4-56CB7477B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B0438D-DB8E-CE54-E367-E4A8E991FA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Porcentaje tiempo ocioso servidores Clase A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770D2C9-ED45-D99B-E144-92BDE72454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IV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20328783-355C-64FB-D726-6CE653BFD5CF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7DDA62F-2931-051F-D635-42003D4251C9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25FB40D9-A3A5-1351-02EE-76233279B86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V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E6B42987-48AF-9B70-3F39-B827CDE4FB28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8FC91ACF-66FE-4945-E519-C96EEBA7DD14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54619475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91356-5400-2A12-B4FA-33157B664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6118E2B-5EB7-6029-AEBC-3CB415F60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Porcentaje tiempo ocioso servidores Clase B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82DB5BD-168C-7BB4-F68A-A8C450BB755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386E9D95-7CA2-C9D9-2750-055AEDC33904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16B1CB39-849E-A8A0-9378-87507246574C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s-AR" dirty="0"/>
              <a:t>[histograma por servidor]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FECD03B8-676C-AB48-83B8-1E6540D35D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II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1F75C7B4-FABA-3DC6-E8C5-B42785E43BF0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A4B33CDB-755E-91E3-5B89-7E20C6342575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8CB9F7CE-B32D-4945-F226-E9BFA0E0976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AR" dirty="0"/>
              <a:t>Escenario III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5BB9AB00-8AE9-55A9-300B-C7B271536AAD}"/>
              </a:ext>
            </a:extLst>
          </p:cNvPr>
          <p:cNvSpPr>
            <a:spLocks noGrp="1"/>
          </p:cNvSpPr>
          <p:nvPr>
            <p:ph type="pic" idx="22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49DF2CD4-2638-193E-FB4E-E2D1D7FE03C4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9986466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7DE51F-3591-8D27-E0BB-E272595F1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B0CCF4-44EC-4BE2-FDA6-95BC359CF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Porcentaje tiempo ocioso servidores Clase B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C3DA2B2A-7AC1-3694-C16D-344D613620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IV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5E70982D-8D16-A19C-2F29-228471A42991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71272FF-14B2-8816-97CB-B79E6329E7A0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DD02BFA9-A2D5-AA74-2B4F-18BDECB0890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V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E9D613F2-2AC9-D448-85ED-7CFC1E2C5903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9E1DD6F6-7420-A0AC-37EA-6EFF79108219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52758831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C78018-46C8-8EEA-859D-0A3DA7B6D3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B9ACFB3-3B60-3E46-03CC-D27E18817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Porcentaje de flujos arrepentidos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532701E-10E2-B2C0-90FE-F79FF49379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FE5D9299-C590-B512-C887-A9FC0B281C2F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AAB07E8E-6C8C-BFE5-8FF4-862EF544B51B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r>
              <a:rPr lang="es-AR" dirty="0"/>
              <a:t>[torta: procesados, arrepentidos UDP, arrepentidos TCP]</a:t>
            </a:r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230FE7A4-37F5-1504-C712-D35D8294288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II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2DE3F5E8-6A32-8136-7B94-D433D6D221A3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752CD348-AEC7-4C9F-00AF-C636228D2F8B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Marcador de texto 8">
            <a:extLst>
              <a:ext uri="{FF2B5EF4-FFF2-40B4-BE49-F238E27FC236}">
                <a16:creationId xmlns:a16="http://schemas.microsoft.com/office/drawing/2014/main" id="{19DBD9C8-FFA1-CF47-CC26-2F938F8C884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es-AR" dirty="0"/>
              <a:t>Escenario III</a:t>
            </a:r>
          </a:p>
        </p:txBody>
      </p:sp>
      <p:sp>
        <p:nvSpPr>
          <p:cNvPr id="10" name="Marcador de posición de imagen 9">
            <a:extLst>
              <a:ext uri="{FF2B5EF4-FFF2-40B4-BE49-F238E27FC236}">
                <a16:creationId xmlns:a16="http://schemas.microsoft.com/office/drawing/2014/main" id="{A616A10C-26F0-942E-66E9-09AA758DF162}"/>
              </a:ext>
            </a:extLst>
          </p:cNvPr>
          <p:cNvSpPr>
            <a:spLocks noGrp="1"/>
          </p:cNvSpPr>
          <p:nvPr>
            <p:ph type="pic" idx="22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11" name="Marcador de texto 10">
            <a:extLst>
              <a:ext uri="{FF2B5EF4-FFF2-40B4-BE49-F238E27FC236}">
                <a16:creationId xmlns:a16="http://schemas.microsoft.com/office/drawing/2014/main" id="{B44CD1E5-5B4E-AAE1-7DD8-02614ECA6A46}"/>
              </a:ext>
            </a:extLst>
          </p:cNvPr>
          <p:cNvSpPr>
            <a:spLocks noGrp="1"/>
          </p:cNvSpPr>
          <p:nvPr>
            <p:ph type="body" sz="half" idx="20"/>
          </p:nvPr>
        </p:nvSpPr>
        <p:spPr/>
        <p:txBody>
          <a:bodyPr/>
          <a:lstStyle/>
          <a:p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55153259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76FB4E-4A06-AB18-CACA-11BE01533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7D03882-B272-1518-FA39-D9C3F190EE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Porcentaje de flujos arrepentidos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852730CF-A165-7DA8-7D2F-707C05D4CF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AR" dirty="0"/>
              <a:t>Escenario IV</a:t>
            </a:r>
          </a:p>
        </p:txBody>
      </p:sp>
      <p:sp>
        <p:nvSpPr>
          <p:cNvPr id="4" name="Marcador de posición de imagen 3">
            <a:extLst>
              <a:ext uri="{FF2B5EF4-FFF2-40B4-BE49-F238E27FC236}">
                <a16:creationId xmlns:a16="http://schemas.microsoft.com/office/drawing/2014/main" id="{819365D8-47AB-EE14-3E5B-83E63293B037}"/>
              </a:ext>
            </a:extLst>
          </p:cNvPr>
          <p:cNvSpPr>
            <a:spLocks noGrp="1"/>
          </p:cNvSpPr>
          <p:nvPr>
            <p:ph type="pic" idx="15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FCA3C01A-4416-AECC-9177-96A355F49D6D}"/>
              </a:ext>
            </a:extLst>
          </p:cNvPr>
          <p:cNvSpPr>
            <a:spLocks noGrp="1"/>
          </p:cNvSpPr>
          <p:nvPr>
            <p:ph type="body" sz="half" idx="18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Marcador de texto 5">
            <a:extLst>
              <a:ext uri="{FF2B5EF4-FFF2-40B4-BE49-F238E27FC236}">
                <a16:creationId xmlns:a16="http://schemas.microsoft.com/office/drawing/2014/main" id="{E9199BCB-9B61-56C6-6B57-E01C133341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s-AR" dirty="0"/>
              <a:t>Escenario V</a:t>
            </a:r>
          </a:p>
        </p:txBody>
      </p:sp>
      <p:sp>
        <p:nvSpPr>
          <p:cNvPr id="7" name="Marcador de posición de imagen 6">
            <a:extLst>
              <a:ext uri="{FF2B5EF4-FFF2-40B4-BE49-F238E27FC236}">
                <a16:creationId xmlns:a16="http://schemas.microsoft.com/office/drawing/2014/main" id="{AC1C8B9C-5036-3A9B-6CD1-0F51F13B2C44}"/>
              </a:ext>
            </a:extLst>
          </p:cNvPr>
          <p:cNvSpPr>
            <a:spLocks noGrp="1"/>
          </p:cNvSpPr>
          <p:nvPr>
            <p:ph type="pic" idx="2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8" name="Marcador de texto 7">
            <a:extLst>
              <a:ext uri="{FF2B5EF4-FFF2-40B4-BE49-F238E27FC236}">
                <a16:creationId xmlns:a16="http://schemas.microsoft.com/office/drawing/2014/main" id="{3586764B-D001-361E-75CF-878F69EF44C5}"/>
              </a:ext>
            </a:extLst>
          </p:cNvPr>
          <p:cNvSpPr>
            <a:spLocks noGrp="1"/>
          </p:cNvSpPr>
          <p:nvPr>
            <p:ph type="body" sz="half" idx="19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21589619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2C1B4C-7BC0-DABA-CFF8-0F2008BB5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9319360-EF0C-B1AD-41B0-1EBF58E06A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AR" dirty="0"/>
              <a:t>Conclusión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398E156-A7CE-A4A7-8D5E-D14163C866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10951735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357249E-D4D0-E42C-770D-A1205D255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AR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462BB5D-9390-742A-E286-F3A2A342F919}"/>
              </a:ext>
            </a:extLst>
          </p:cNvPr>
          <p:cNvSpPr>
            <a:spLocks noGrp="1"/>
          </p:cNvSpPr>
          <p:nvPr>
            <p:ph type="body" sz="half" idx="13"/>
          </p:nvPr>
        </p:nvSpPr>
        <p:spPr/>
        <p:txBody>
          <a:bodyPr/>
          <a:lstStyle/>
          <a:p>
            <a:r>
              <a:rPr lang="es-AR" dirty="0"/>
              <a:t>Recomendación de la acción a tomar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E22E279D-A629-520A-CA16-058B3731E45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endParaRPr lang="es-AR" dirty="0"/>
          </a:p>
        </p:txBody>
      </p:sp>
    </p:spTree>
    <p:extLst>
      <p:ext uri="{BB962C8B-B14F-4D97-AF65-F5344CB8AC3E}">
        <p14:creationId xmlns:p14="http://schemas.microsoft.com/office/powerpoint/2010/main" val="392445067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Pizarra">
  <a:themeElements>
    <a:clrScheme name="Papel">
      <a:dk1>
        <a:sysClr val="windowText" lastClr="000000"/>
      </a:dk1>
      <a:lt1>
        <a:sysClr val="window" lastClr="FFFFFF"/>
      </a:lt1>
      <a:dk2>
        <a:srgbClr val="444D26"/>
      </a:dk2>
      <a:lt2>
        <a:srgbClr val="FEFAC9"/>
      </a:lt2>
      <a:accent1>
        <a:srgbClr val="A5B592"/>
      </a:accent1>
      <a:accent2>
        <a:srgbClr val="F3A447"/>
      </a:accent2>
      <a:accent3>
        <a:srgbClr val="E7BC29"/>
      </a:accent3>
      <a:accent4>
        <a:srgbClr val="D092A7"/>
      </a:accent4>
      <a:accent5>
        <a:srgbClr val="9C85C0"/>
      </a:accent5>
      <a:accent6>
        <a:srgbClr val="809EC2"/>
      </a:accent6>
      <a:hlink>
        <a:srgbClr val="8E58B6"/>
      </a:hlink>
      <a:folHlink>
        <a:srgbClr val="7F6F6F"/>
      </a:folHlink>
    </a:clrScheme>
    <a:fontScheme name="Pizarra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Pizarra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TM04033929[[fn=Pizarra]]</Template>
  <TotalTime>180</TotalTime>
  <Words>456</Words>
  <Application>Microsoft Office PowerPoint</Application>
  <PresentationFormat>Panorámica</PresentationFormat>
  <Paragraphs>94</Paragraphs>
  <Slides>22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22</vt:i4>
      </vt:variant>
    </vt:vector>
  </HeadingPairs>
  <TitlesOfParts>
    <vt:vector size="25" baseType="lpstr">
      <vt:lpstr>Calisto MT</vt:lpstr>
      <vt:lpstr>Wingdings 2</vt:lpstr>
      <vt:lpstr>Pizarra</vt:lpstr>
      <vt:lpstr>QoS en servidores de empresa</vt:lpstr>
      <vt:lpstr>Agenda</vt:lpstr>
      <vt:lpstr>Problema</vt:lpstr>
      <vt:lpstr>Presentación de PowerPoint</vt:lpstr>
      <vt:lpstr>Respuesta al problema</vt:lpstr>
      <vt:lpstr>Simulación</vt:lpstr>
      <vt:lpstr>Contexto</vt:lpstr>
      <vt:lpstr>Contexto</vt:lpstr>
      <vt:lpstr>Escenarios</vt:lpstr>
      <vt:lpstr>Resultados</vt:lpstr>
      <vt:lpstr>Cantidad de flujos atendidos</vt:lpstr>
      <vt:lpstr>Cantidad de flujos atendidos</vt:lpstr>
      <vt:lpstr>Promedio de espera en cola</vt:lpstr>
      <vt:lpstr>Promedio de espera en cola</vt:lpstr>
      <vt:lpstr>Porcentaje tiempo ocioso servidores Clase A</vt:lpstr>
      <vt:lpstr>Porcentaje tiempo ocioso servidores Clase A</vt:lpstr>
      <vt:lpstr>Porcentaje tiempo ocioso servidores Clase B</vt:lpstr>
      <vt:lpstr>Porcentaje tiempo ocioso servidores Clase B</vt:lpstr>
      <vt:lpstr>Porcentaje de flujos arrepentidos</vt:lpstr>
      <vt:lpstr>Porcentaje de flujos arrepentidos</vt:lpstr>
      <vt:lpstr>Conclusión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Guillermo Federico CACACE</dc:creator>
  <cp:lastModifiedBy>Guillermo Federico CACACE</cp:lastModifiedBy>
  <cp:revision>3</cp:revision>
  <dcterms:created xsi:type="dcterms:W3CDTF">2026-05-24T21:57:36Z</dcterms:created>
  <dcterms:modified xsi:type="dcterms:W3CDTF">2026-05-25T15:06:08Z</dcterms:modified>
</cp:coreProperties>
</file>